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Router
Accuracy</c:v>
                </c:pt>
                <c:pt idx="1">
                  <c:v>Slot Intent
Accuracy</c:v>
                </c:pt>
                <c:pt idx="2">
                  <c:v>Gate
Accuracy</c:v>
                </c:pt>
                <c:pt idx="3">
                  <c:v>CCS
(Novel)</c:v>
                </c:pt>
                <c:pt idx="4">
                  <c:v>Grounded
Clean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0.81799999999999995</c:v>
                </c:pt>
                <c:pt idx="1">
                  <c:v>0.75600000000000001</c:v>
                </c:pt>
                <c:pt idx="2">
                  <c:v>0.5</c:v>
                </c:pt>
                <c:pt idx="3">
                  <c:v>0</c:v>
                </c:pt>
                <c:pt idx="4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1D-42CA-821E-83CCA695FD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A1F3C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Router
Accuracy</c:v>
                </c:pt>
                <c:pt idx="1">
                  <c:v>Slot Intent
Accuracy</c:v>
                </c:pt>
                <c:pt idx="2">
                  <c:v>Gate
Accuracy</c:v>
                </c:pt>
                <c:pt idx="3">
                  <c:v>CCS
(Novel)</c:v>
                </c:pt>
                <c:pt idx="4">
                  <c:v>Grounded
Clean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0.90900000000000003</c:v>
                </c:pt>
                <c:pt idx="1">
                  <c:v>0.93300000000000005</c:v>
                </c:pt>
                <c:pt idx="2">
                  <c:v>0.99099999999999999</c:v>
                </c:pt>
                <c:pt idx="3">
                  <c:v>0.71399999999999997</c:v>
                </c:pt>
                <c:pt idx="4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1D-42CA-821E-83CCA695FD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61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-182880"/>
            <a:ext cx="3657600" cy="3657600"/>
          </a:xfrm>
          <a:prstGeom prst="ellipse">
            <a:avLst/>
          </a:prstGeom>
          <a:solidFill>
            <a:srgbClr val="E06B1A">
              <a:alpha val="9000"/>
            </a:srgbClr>
          </a:solidFill>
          <a:ln w="12700">
            <a:solidFill>
              <a:srgbClr val="2B32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0" y="320040"/>
            <a:ext cx="2651760" cy="2651760"/>
          </a:xfrm>
          <a:prstGeom prst="ellipse">
            <a:avLst/>
          </a:prstGeom>
          <a:solidFill>
            <a:srgbClr val="E06B1A">
              <a:alpha val="17000"/>
            </a:srgbClr>
          </a:solidFill>
          <a:ln w="12700">
            <a:solidFill>
              <a:srgbClr val="2B32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822960"/>
            <a:ext cx="1645920" cy="1645920"/>
          </a:xfrm>
          <a:prstGeom prst="ellipse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78992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" y="47548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CC8"/>
                </a:solidFill>
              </a:rPr>
              <a:t>DS615 · Neural Networks and Deep Learning · DA-IICT, Gandhinagar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6032" y="841248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ShramikSaathi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292608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CC8"/>
                </a:solidFill>
              </a:rPr>
              <a:t>साथी  =  Companion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2608" y="210312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Multi-Domain Copilot for Indian Worker Rights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92608" y="26334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B1A"/>
                </a:solidFill>
              </a:rPr>
              <a:t>Procedural Eligibility Reasoning  ·  DPO Alignment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92608" y="3108960"/>
            <a:ext cx="5120640" cy="0"/>
          </a:xfrm>
          <a:prstGeom prst="line">
            <a:avLst/>
          </a:prstGeom>
          <a:noFill/>
          <a:ln w="12700">
            <a:solidFill>
              <a:srgbClr val="3A45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324612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Aarsh Adhvaryu  ·  Nikita Sharma  ·  Srishti Lamba  ·  Mannan Agrawal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" y="353872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A8"/>
                </a:solidFill>
              </a:rPr>
              <a:t>{202518031, 202518038, 202518003, 202518013}@dau.ac.in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92608" y="4206240"/>
            <a:ext cx="1353312" cy="274320"/>
          </a:xfrm>
          <a:prstGeom prst="roundRect">
            <a:avLst>
              <a:gd name="adj" fmla="val 16667"/>
            </a:avLst>
          </a:prstGeom>
          <a:solidFill>
            <a:srgbClr val="1D4ED8">
              <a:alpha val="7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2608" y="420624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PF / EPFO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737360" y="4206240"/>
            <a:ext cx="1353312" cy="274320"/>
          </a:xfrm>
          <a:prstGeom prst="roundRect">
            <a:avLst>
              <a:gd name="adj" fmla="val 16667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37360" y="420624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Payslip Audit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182112" y="4206240"/>
            <a:ext cx="1353312" cy="274320"/>
          </a:xfrm>
          <a:prstGeom prst="roundRect">
            <a:avLst>
              <a:gd name="adj" fmla="val 16667"/>
            </a:avLst>
          </a:prstGeom>
          <a:solidFill>
            <a:srgbClr val="E06B1A">
              <a:alpha val="75000"/>
            </a:srgbClr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82112" y="420624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Labour Rights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26864" y="4206240"/>
            <a:ext cx="1353312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26864" y="420624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Income Tax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86384" y="4553712"/>
            <a:ext cx="365760" cy="3657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36008"/>
            <a:ext cx="201168" cy="20116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2231136" y="4553712"/>
            <a:ext cx="365760" cy="36576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3432" y="4636008"/>
            <a:ext cx="201168" cy="20116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675888" y="4553712"/>
            <a:ext cx="365760" cy="365760"/>
          </a:xfrm>
          <a:prstGeom prst="ellipse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184" y="4636008"/>
            <a:ext cx="201168" cy="2011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120640" y="455371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936" y="4636008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3192" y="914400"/>
            <a:ext cx="2633472" cy="40050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914400"/>
            <a:ext cx="2633472" cy="1078992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005840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33856"/>
            <a:ext cx="585216" cy="5852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2066544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Workers, Zero Guidance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6072" y="2688336"/>
            <a:ext cx="226771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</a:rPr>
              <a:t>India's formal and informal workers navigate the EPF Act 1952, Gratuity Act 1972, state wage notifications, and income tax provisions — with no accessible support infrastructure.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27832" y="914400"/>
            <a:ext cx="2633472" cy="40050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27832" y="914400"/>
            <a:ext cx="2633472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9272" y="1005840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19272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133856"/>
            <a:ext cx="585216" cy="58521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64992" y="2066544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Support Infrastructure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410712" y="2688336"/>
            <a:ext cx="226771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</a:rPr>
              <a:t>EPFO helplines: 2-hour average wait times. UMANG chatbot: non-functional for complex queries. Government portals: static PDFs only — no contextual guidance.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62472" y="914400"/>
            <a:ext cx="2633472" cy="40050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62472" y="914400"/>
            <a:ext cx="263347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53912" y="1005840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53912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133856"/>
            <a:ext cx="585216" cy="5852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99632" y="2066544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Hallucinates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245352" y="2688336"/>
            <a:ext cx="226771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</a:rPr>
              <a:t>RAG systems generate plausible answers without verifying eligibility conditions — a critical gap when incorrect answers carry real financial consequences for workers.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393192" y="4754880"/>
            <a:ext cx="8357616" cy="256032"/>
          </a:xfrm>
          <a:prstGeom prst="rect">
            <a:avLst/>
          </a:prstGeom>
          <a:solidFill>
            <a:srgbClr val="FFF3E8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6B1A"/>
                </a:solidFill>
              </a:rPr>
              <a:t>ShramikSaathi verifies eligibility conditions before generating any answer — grounded in Indian statute.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&amp; Evaluation Metrics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84048" y="8412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Knowledge Base  (311 Documents)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PF / EPFO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1280160"/>
            <a:ext cx="2194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280160"/>
            <a:ext cx="1689811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3163" y="128016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240 docs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Payslip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00200" y="1847088"/>
            <a:ext cx="2194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1847088"/>
            <a:ext cx="241402" cy="20116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4754" y="18470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</a:rPr>
              <a:t>35 docs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3957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Labour Rights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00200" y="2414016"/>
            <a:ext cx="2194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2414016"/>
            <a:ext cx="131674" cy="20116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05026" y="24140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6B1A"/>
                </a:solidFill>
              </a:rPr>
              <a:t>18 docs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2962656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Income Tax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00200" y="2980944"/>
            <a:ext cx="2194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2980944"/>
            <a:ext cx="13167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05026" y="298094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18 docs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3566160"/>
            <a:ext cx="3840480" cy="13716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566160"/>
            <a:ext cx="50292" cy="13716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210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Training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3931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6B1A"/>
                </a:solidFill>
              </a:rPr>
              <a:t>916  </a:t>
            </a:r>
            <a:r>
              <a:rPr lang="en-US" sz="1100" dirty="0">
                <a:solidFill>
                  <a:srgbClr val="64748B"/>
                </a:solidFill>
              </a:rPr>
              <a:t>retriever fine-tuning triplets (hard negatives)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" y="4206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6B1A"/>
                </a:solidFill>
              </a:rPr>
              <a:t>285  </a:t>
            </a:r>
            <a:r>
              <a:rPr lang="en-US" sz="1100" dirty="0">
                <a:solidFill>
                  <a:srgbClr val="64748B"/>
                </a:solidFill>
              </a:rPr>
              <a:t>LoRA SFT examples (4-gate validated)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" y="4480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6B1A"/>
                </a:solidFill>
              </a:rPr>
              <a:t>373  </a:t>
            </a:r>
            <a:r>
              <a:rPr lang="en-US" sz="1100" dirty="0">
                <a:solidFill>
                  <a:srgbClr val="64748B"/>
                </a:solidFill>
              </a:rPr>
              <a:t>DPO preference pairs across 4 dimensions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8412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Evaluation Metrics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617720" y="1234440"/>
            <a:ext cx="425196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1234440"/>
            <a:ext cx="50292" cy="65836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12801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Condition Coverage Score  ★  (Novel)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18304" y="155448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CCS = |resolved conditions| / |total conditions|  — fraction of mandatory conditions verified before answering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1993392"/>
            <a:ext cx="425196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1993392"/>
            <a:ext cx="50292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203911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Grounded Clean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18304" y="231343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Binary: response is factually grounded, correct verdict, no fabricated citations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2752344"/>
            <a:ext cx="425196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2752344"/>
            <a:ext cx="50292" cy="65836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279806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Routing Accuracy / Slot Metrics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18304" y="307238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Domain classification accuracy over 66 queries; slot precision, recall, intent accuracy over 45 examples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3511296"/>
            <a:ext cx="425196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3511296"/>
            <a:ext cx="5029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355701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Retrieval Recall@5 / MRR@5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718304" y="383133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FAISS semantic retrieval quality over 20 held-out annotated prompts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17720" y="4270248"/>
            <a:ext cx="425196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4270248"/>
            <a:ext cx="50292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43159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RAGAS Faithfulness + Answer Relevance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718304" y="45902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LLM-as-judge (Groq LLaMA 3.1 8B): faithfulness to passages + query relevance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Overview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7B8FC8"/>
                </a:solidFill>
              </a:rPr>
              <a:t>ShramikSaathi Pipeline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0896" y="960120"/>
            <a:ext cx="256032" cy="256032"/>
          </a:xfrm>
          <a:prstGeom prst="ellipse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960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877824"/>
            <a:ext cx="4480560" cy="420624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9509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136" y="877824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User Message + History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98648" y="1298448"/>
            <a:ext cx="0" cy="105156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0896" y="1485900"/>
            <a:ext cx="256032" cy="256032"/>
          </a:xfrm>
          <a:prstGeom prst="ellipse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0896" y="14859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403604"/>
            <a:ext cx="4480560" cy="420624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47675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88136" y="1403604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Cross-domain Router  →  PF / Payslip / Labour / Tax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898648" y="1824228"/>
            <a:ext cx="0" cy="105156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10896" y="2011680"/>
            <a:ext cx="256032" cy="256032"/>
          </a:xfrm>
          <a:prstGeom prst="ellipse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0896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58368" y="1929384"/>
            <a:ext cx="4480560" cy="420624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002536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88136" y="1929384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Slot Extractor  (JSON: intent, months_unemployed, uan_status…)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898648" y="2350008"/>
            <a:ext cx="0" cy="105156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10896" y="2537460"/>
            <a:ext cx="256032" cy="256032"/>
          </a:xfrm>
          <a:prstGeom prst="ellipse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10896" y="25374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58368" y="2455164"/>
            <a:ext cx="4480560" cy="420624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252831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88136" y="2455164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Sufficiency Gate  —  ask one clarifying question if incomplete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2898648" y="2875788"/>
            <a:ext cx="0" cy="105156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10896" y="3063240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10896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8368" y="2980944"/>
            <a:ext cx="4480560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3054096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88136" y="2980944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Retrieval + Tools  (FAISS SearchKB, ParsePayslip)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2898648" y="3401568"/>
            <a:ext cx="0" cy="105156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10896" y="3589020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10896" y="35890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658368" y="3506724"/>
            <a:ext cx="448056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" y="3579876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88136" y="3506724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Eligibility Reasoner ★  (IF/THEN → RESOLVED / WARNING / ESCALATE)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2898648" y="3927348"/>
            <a:ext cx="0" cy="105156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310896" y="4114800"/>
            <a:ext cx="256032" cy="256032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310896" y="4114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658368" y="4032504"/>
            <a:ext cx="4480560" cy="42062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" y="4105656"/>
            <a:ext cx="274320" cy="27432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088136" y="4032504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Generator  (LLaMA 3.1 8B · LoRA SFT → DPO, β = 0.05)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2898648" y="4453128"/>
            <a:ext cx="0" cy="105156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310896" y="4640580"/>
            <a:ext cx="256032" cy="256032"/>
          </a:xfrm>
          <a:prstGeom prst="ellipse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10896" y="46405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658368" y="4558284"/>
            <a:ext cx="4480560" cy="420624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" y="4631436"/>
            <a:ext cx="274320" cy="27432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1088136" y="4558284"/>
            <a:ext cx="39867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Output + Actions  (cited answer, grievance filing)</a:t>
            </a:r>
            <a:endParaRPr 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5349240" y="1403604"/>
            <a:ext cx="41148" cy="196138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5468112" y="14401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6B1A"/>
                </a:solidFill>
              </a:rPr>
              <a:t>Pre-Retrieval Pipeline</a:t>
            </a:r>
            <a:endParaRPr lang="en-US" sz="1150" dirty="0"/>
          </a:p>
        </p:txBody>
      </p:sp>
      <p:sp>
        <p:nvSpPr>
          <p:cNvPr id="55" name="Text 45"/>
          <p:cNvSpPr/>
          <p:nvPr/>
        </p:nvSpPr>
        <p:spPr>
          <a:xfrm>
            <a:off x="5468112" y="1677924"/>
            <a:ext cx="3383280" cy="1668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Domain routing + structured slots + sufficiency check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5349240" y="2980944"/>
            <a:ext cx="41148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5468112" y="301752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</a:rPr>
              <a:t>Retrieval + Tool Layer</a:t>
            </a:r>
            <a:endParaRPr lang="en-US" sz="1150" dirty="0"/>
          </a:p>
        </p:txBody>
      </p:sp>
      <p:sp>
        <p:nvSpPr>
          <p:cNvPr id="58" name="Text 48"/>
          <p:cNvSpPr/>
          <p:nvPr/>
        </p:nvSpPr>
        <p:spPr>
          <a:xfrm>
            <a:off x="5468112" y="3255264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FAISS semantic search + deterministic payslip calculator</a:t>
            </a:r>
            <a:endParaRPr lang="en-US" sz="1000" dirty="0"/>
          </a:p>
        </p:txBody>
      </p:sp>
      <p:sp>
        <p:nvSpPr>
          <p:cNvPr id="59" name="Shape 49"/>
          <p:cNvSpPr/>
          <p:nvPr/>
        </p:nvSpPr>
        <p:spPr>
          <a:xfrm>
            <a:off x="5349240" y="3506724"/>
            <a:ext cx="41148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5468112" y="35433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</a:rPr>
              <a:t>★ Core Novel Contribution</a:t>
            </a:r>
            <a:endParaRPr lang="en-US" sz="1150" dirty="0"/>
          </a:p>
        </p:txBody>
      </p:sp>
      <p:sp>
        <p:nvSpPr>
          <p:cNvPr id="61" name="Text 51"/>
          <p:cNvSpPr/>
          <p:nvPr/>
        </p:nvSpPr>
        <p:spPr>
          <a:xfrm>
            <a:off x="5468112" y="3781044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Conditions verified before answering — CCS 0.000 → 0.714</a:t>
            </a:r>
            <a:endParaRPr lang="en-US" sz="1000" dirty="0"/>
          </a:p>
        </p:txBody>
      </p:sp>
      <p:sp>
        <p:nvSpPr>
          <p:cNvPr id="62" name="Shape 52"/>
          <p:cNvSpPr/>
          <p:nvPr/>
        </p:nvSpPr>
        <p:spPr>
          <a:xfrm>
            <a:off x="5349240" y="4032504"/>
            <a:ext cx="41148" cy="42062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3" name="Text 53"/>
          <p:cNvSpPr/>
          <p:nvPr/>
        </p:nvSpPr>
        <p:spPr>
          <a:xfrm>
            <a:off x="5468112" y="40690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</a:rPr>
              <a:t>DPO-Aligned Generator</a:t>
            </a:r>
            <a:endParaRPr lang="en-US" sz="1150" dirty="0"/>
          </a:p>
        </p:txBody>
      </p:sp>
      <p:sp>
        <p:nvSpPr>
          <p:cNvPr id="64" name="Text 54"/>
          <p:cNvSpPr/>
          <p:nvPr/>
        </p:nvSpPr>
        <p:spPr>
          <a:xfrm>
            <a:off x="5468112" y="4306824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373 preference pairs · 4 alignment dimensions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— What We Compare Against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7589520" cy="4114803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regex classifier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zero-shot (Groq LLaMA 3.1 8B)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+0.091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Extractor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+ pattern matching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structured JSON extraction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+0.177 intent acc.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Sufficiency 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Always-proceed (no check)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required-slot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false-sufficiency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+ all-MiniLM-L6-v2 (384-dim)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+0.034 Recall@5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06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Reasoner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CCS = 0.000 by construction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IF/THEN condition parser + checker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06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+0.714 CCS (novel)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SFT-only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SFT → DPO alignment (β = 0.05)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+0.050 grounded clean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— What is Learned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7B8FC8"/>
                </a:solidFill>
              </a:rPr>
              <a:t>Single A100 80GB GPU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22960"/>
            <a:ext cx="272491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22960"/>
            <a:ext cx="2724912" cy="8961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77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</a:t>
            </a:r>
            <a:endParaRPr lang="en-US" sz="3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94183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1380744"/>
            <a:ext cx="22219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Retriever Fine-tuning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801368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D4ED8">
              <a:alpha val="16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8013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916 triplets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719072" y="1801368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D4ED8">
              <a:alpha val="16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19072" y="18013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3 epochs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12064" y="2148840"/>
            <a:ext cx="2450592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Base: all-MiniLM-L6-v2 (384-dim embeddings)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Hard negatives mined with BM25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Triplet loss (margin 0.3) · AdamW lr=2e-5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MRR@5: 0.668 → 0.725  (+6.8%)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36976" y="822960"/>
            <a:ext cx="272491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36976" y="822960"/>
            <a:ext cx="2724912" cy="89611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28416" y="877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941832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46704" y="1380744"/>
            <a:ext cx="22219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LoRA SFT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346704" y="1801368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6534">
              <a:alpha val="16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46704" y="18013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</a:rPr>
              <a:t>285 examples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608576" y="1801368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6534">
              <a:alpha val="16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608576" y="18013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</a:rPr>
              <a:t>42M params (0.52%)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401568" y="2148840"/>
            <a:ext cx="2450592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LLaMA 3.1 8B Instruct · 4-bit NF4 quantization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LoRA rank 16 / α=32 on all attention + MLP layers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4-gate validation: citation · verdict · length · scope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Train loss 2.04 → 0.31 in 8.9 minutes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126480" y="822960"/>
            <a:ext cx="272491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26480" y="822960"/>
            <a:ext cx="2724912" cy="896112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17920" y="877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56" y="941832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36208" y="1380744"/>
            <a:ext cx="22219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DPO Alignment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236208" y="1801368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E06B1A">
              <a:alpha val="16000"/>
            </a:srgbClr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236208" y="18013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6B1A"/>
                </a:solidFill>
              </a:rPr>
              <a:t>373 pairs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7498080" y="1801368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E06B1A">
              <a:alpha val="16000"/>
            </a:srgbClr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498080" y="18013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6B1A"/>
                </a:solidFill>
              </a:rPr>
              <a:t>β = 0.05 ✓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6291072" y="2148840"/>
            <a:ext cx="2450592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4 dimensions: Grounding · Verdict · Citation · Refusal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β sweep {0.05, 0.10, 0.20} — β=0.05 is optimal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SFT-first sequencing critical (§3.5 lesson)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Grounded clean: 0.700 → 0.750 · zero fabrication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3072384" y="201168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961888" y="201168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 — Baseline vs. Best System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2633472" cy="11704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04672"/>
            <a:ext cx="2633472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8696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4ED8"/>
                </a:solidFill>
              </a:rPr>
              <a:t>0.909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84048" y="1472184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Routing 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69164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↑ from 0.818 keyword baseline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36976" y="804672"/>
            <a:ext cx="2633472" cy="11704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6976" y="804672"/>
            <a:ext cx="2633472" cy="50292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88696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06B1A"/>
                </a:solidFill>
              </a:rPr>
              <a:t>0.714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36976" y="1472184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Condition Coverage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36976" y="169164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↑ from 0.000 — entirely new capability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9904" y="804672"/>
            <a:ext cx="2633472" cy="11704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804672"/>
            <a:ext cx="2633472" cy="5029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88696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6534"/>
                </a:solidFill>
              </a:rPr>
              <a:t>0.750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089904" y="1472184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Grounded Clean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9904" y="169164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↑ from 0.700 · zero fabrication</a:t>
            </a:r>
            <a:endParaRPr lang="en-US" sz="95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3220209607"/>
              </p:ext>
            </p:extLst>
          </p:nvPr>
        </p:nvGraphicFramePr>
        <p:xfrm>
          <a:off x="365760" y="2066544"/>
          <a:ext cx="841248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— Component Impact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7B8FC8"/>
                </a:solidFill>
              </a:rPr>
              <a:t>Table 6 · 20 held-out prompts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804672"/>
            <a:ext cx="2011680" cy="39253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04672"/>
            <a:ext cx="2011680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68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Config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Vanilla RAG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1655064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64748B">
              <a:alpha val="18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6550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Baseline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202082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Grounded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224028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0.550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2336" y="272491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CCS 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" y="294436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0.000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02336" y="3429000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Verdict Acc.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" y="364845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0.550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02336" y="413308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Fab.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" y="435254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</a:rPr>
              <a:t>0.050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68880" y="804672"/>
            <a:ext cx="2011680" cy="39665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blurRad="1143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804672"/>
            <a:ext cx="2011680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868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Config 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6032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+ Pre-Retrieval Pipeline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1655064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D4ED8">
              <a:alpha val="18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16550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+0.250 grounded 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78608" y="202082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Grounded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78608" y="224028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</a:rPr>
              <a:t>0.800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578608" y="272491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CCS Score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78608" y="294436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0.000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578608" y="3429000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Verdict Acc.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78608" y="364845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</a:rPr>
              <a:t>0.800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578608" y="413308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Fab. 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78608" y="435254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</a:rPr>
              <a:t>0.050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645152" y="804672"/>
            <a:ext cx="2011680" cy="3966534"/>
          </a:xfrm>
          <a:prstGeom prst="rect">
            <a:avLst/>
          </a:prstGeom>
          <a:solidFill>
            <a:srgbClr val="FFF3E8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45152" y="804672"/>
            <a:ext cx="2011680" cy="74980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868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Config C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736592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+ Eligibility Reasoner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82312" y="1655064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E06B1A">
              <a:alpha val="18000"/>
            </a:srgbClr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16550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6B1A"/>
                </a:solidFill>
              </a:rPr>
              <a:t>CCS activated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202082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Grounded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224028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</a:rPr>
              <a:t>0.700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4754880" y="272491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CCS Score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294436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0.631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754880" y="3429000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Verdict Acc.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0" y="364845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</a:rPr>
              <a:t>0.700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754880" y="413308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Fab. Rate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435254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</a:rPr>
              <a:t>0.000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6821424" y="804672"/>
            <a:ext cx="2011680" cy="3966531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21424" y="804672"/>
            <a:ext cx="2011680" cy="7498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12864" y="868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Config D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912864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Full System (+ DPO)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58584" y="1655064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66534">
              <a:alpha val="18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58584" y="16550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</a:rPr>
              <a:t>Best verdict acc.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31152" y="202082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Grounded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31152" y="224028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</a:rPr>
              <a:t>0.700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6931152" y="272491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CCS Score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31152" y="294436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0.647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6931152" y="3429000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Verdict Acc.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31152" y="3648456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</a:rPr>
              <a:t>0.750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6931152" y="413308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Fab. Rate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931152" y="4352544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</a:rPr>
              <a:t>0.050</a:t>
            </a:r>
            <a:endParaRPr lang="en-US" sz="2000" dirty="0"/>
          </a:p>
        </p:txBody>
      </p:sp>
      <p:sp>
        <p:nvSpPr>
          <p:cNvPr id="62" name="Shape 60"/>
          <p:cNvSpPr/>
          <p:nvPr/>
        </p:nvSpPr>
        <p:spPr>
          <a:xfrm>
            <a:off x="2304288" y="201168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80560" y="201168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56832" y="201168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2608" y="4821503"/>
            <a:ext cx="8558784" cy="306315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84158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</a:rPr>
              <a:t>★  Pre-retrieval (A→B) = largest single gain +0.250.  Reasoner (B→C) introduces CCS, eliminates fabrication.  DPO (C→D) recovers verdict accuracy.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7B8FC8"/>
                </a:solidFill>
              </a:rPr>
              <a:t>2–3 examples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12618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50292" cy="1261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07008"/>
            <a:ext cx="493776" cy="49377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1318108"/>
            <a:ext cx="271577" cy="2715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086600" y="932688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1D4ED8">
              <a:alpha val="16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93268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Retrieval Gap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371600" y="89611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PF Domain: Near-Miss Retrieval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Issue: </a:t>
            </a:r>
            <a:r>
              <a:rPr lang="en-US" sz="1050" dirty="0">
                <a:solidFill>
                  <a:srgbClr val="64748B"/>
                </a:solidFill>
              </a:rPr>
              <a:t>PF grounded clean = 0.40 across ALL generator configs. The 240 PF documents have heavily overlapping content — multiple FAQs share vocabulary but differ on the specific condition needed. Retriever returns near-miss passages.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371600" y="1627632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Fix / Impact: </a:t>
            </a:r>
            <a:r>
              <a:rPr lang="en-US" sz="1050" dirty="0">
                <a:solidFill>
                  <a:srgbClr val="64748B"/>
                </a:solidFill>
              </a:rPr>
              <a:t>Domain-aware retrieval filtering (prioritising passages from the routed domain) partially mitigates this in the live demo. PF R@5 = 0.367 — lowest of all domains.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2212848"/>
            <a:ext cx="8412480" cy="12618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212848"/>
            <a:ext cx="5029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2596896"/>
            <a:ext cx="493776" cy="4937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2707996"/>
            <a:ext cx="271577" cy="271577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086600" y="2322576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7C3AED">
              <a:alpha val="16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086600" y="232257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Metric Limitation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371600" y="2286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RAGAS Faithfulness Metric Mismatch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371600" y="2596896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Issue: </a:t>
            </a:r>
            <a:r>
              <a:rPr lang="en-US" sz="1050" dirty="0">
                <a:solidFill>
                  <a:srgbClr val="64748B"/>
                </a:solidFill>
              </a:rPr>
              <a:t>DPO model cites slot values in answers (e.g., 'unemployed for 3 months'). RAGAS penalises these because they originate from user-provided slots, not retrieved passages — even though they are factually correct.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371600" y="3017520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Fix / Impact: </a:t>
            </a:r>
            <a:r>
              <a:rPr lang="en-US" sz="1050" dirty="0">
                <a:solidFill>
                  <a:srgbClr val="64748B"/>
                </a:solidFill>
              </a:rPr>
              <a:t>DPO faithfulness: 0.830 → 0.800. A slot-aware faithfulness variant that treats filled slots as additional grounding evidence would show zero regression. Limitation of applying standard RAGAS to slot-augmented systems.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65760" y="3602736"/>
            <a:ext cx="50292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31520" y="3986784"/>
            <a:ext cx="493776" cy="49377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20" y="4097884"/>
            <a:ext cx="271577" cy="271577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7086600" y="3712464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DC2626">
              <a:alpha val="16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086600" y="371246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</a:rPr>
              <a:t>Fabrication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1371600" y="367588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Doc ID Suffix Mutation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1371600" y="3986784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Issue: </a:t>
            </a:r>
            <a:r>
              <a:rPr lang="en-US" sz="1050" dirty="0">
                <a:solidFill>
                  <a:srgbClr val="64748B"/>
                </a:solidFill>
              </a:rPr>
              <a:t>Full system (Config D) produced one payslip fabrication: GAZETTE_INTEREST_RATE_2023_24 → GAZETTE_INTEREST_RATE_2024_25. A plausible-looking year suffix was mutated — a pattern from the DPO-without-SFT failed attempt (§3.5).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1371600" y="4407408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Fix / Impact: </a:t>
            </a:r>
            <a:r>
              <a:rPr lang="en-US" sz="1050" dirty="0">
                <a:solidFill>
                  <a:srgbClr val="64748B"/>
                </a:solidFill>
              </a:rPr>
              <a:t>Citation post-processing filter deployed in live demo: regex strips any [DOC_ID] not present in the retrieved passages or KB. Eliminates this class entirely at inference time.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0"/>
          </a:xfrm>
          <a:prstGeom prst="line">
            <a:avLst/>
          </a:prstGeom>
          <a:noFill/>
          <a:ln w="12700">
            <a:solidFill>
              <a:srgbClr val="3A45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6B1A"/>
                </a:solidFill>
              </a:rPr>
              <a:t>Key Takeaways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5623560" cy="987552"/>
          </a:xfrm>
          <a:prstGeom prst="rect">
            <a:avLst/>
          </a:prstGeom>
          <a:solidFill>
            <a:srgbClr val="252C5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530352" cy="5303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1261872"/>
            <a:ext cx="4919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Pre-retrieval pipeline is the biggest lever. Structured domain routing + slot extraction + sufficiency gate delivers +0.250 grounded clean — more than any individual model component.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5623560" cy="987552"/>
          </a:xfrm>
          <a:prstGeom prst="rect">
            <a:avLst/>
          </a:prstGeom>
          <a:solidFill>
            <a:srgbClr val="252C54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505456"/>
            <a:ext cx="530352" cy="530352"/>
          </a:xfrm>
          <a:prstGeom prst="ellipse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5054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32688" y="2377440"/>
            <a:ext cx="4919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Procedural eligibility reasoning is a new capability dimension. CCS goes 0.000 → 0.714, capturing something RAGAS faithfulness and retrieval recall cannot — whether the system verified conditions before answering.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44768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6B1A"/>
                </a:solidFill>
              </a:rPr>
              <a:t>Next Steps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44768" y="1170432"/>
            <a:ext cx="2743200" cy="749808"/>
          </a:xfrm>
          <a:prstGeom prst="rect">
            <a:avLst/>
          </a:prstGeom>
          <a:solidFill>
            <a:srgbClr val="252C54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243584"/>
            <a:ext cx="219456" cy="219456"/>
          </a:xfrm>
          <a:prstGeom prst="ellipse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435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46520" y="1225296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8C8"/>
                </a:solidFill>
              </a:rPr>
              <a:t>Scale KB + DPO dataset — address PF and refusal dimension imbalance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2029968"/>
            <a:ext cx="2743200" cy="749808"/>
          </a:xfrm>
          <a:prstGeom prst="rect">
            <a:avLst/>
          </a:prstGeom>
          <a:solidFill>
            <a:srgbClr val="252C54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103120"/>
            <a:ext cx="219456" cy="219456"/>
          </a:xfrm>
          <a:prstGeom prst="ellipse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1031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46520" y="2084832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8C8"/>
                </a:solidFill>
              </a:rPr>
              <a:t>Add cross-encoder reranker for improved passage ranking quality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44768" y="2889504"/>
            <a:ext cx="2743200" cy="749808"/>
          </a:xfrm>
          <a:prstGeom prst="rect">
            <a:avLst/>
          </a:prstGeom>
          <a:solidFill>
            <a:srgbClr val="252C54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2962656"/>
            <a:ext cx="219456" cy="219456"/>
          </a:xfrm>
          <a:prstGeom prst="ellipse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9626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46520" y="2944368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8C8"/>
                </a:solidFill>
              </a:rPr>
              <a:t>Extend to Hinglish and regional language support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44768" y="3749040"/>
            <a:ext cx="2743200" cy="749808"/>
          </a:xfrm>
          <a:prstGeom prst="rect">
            <a:avLst/>
          </a:prstGeom>
          <a:solidFill>
            <a:srgbClr val="252C54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3822192"/>
            <a:ext cx="219456" cy="219456"/>
          </a:xfrm>
          <a:prstGeom prst="ellipse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8221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46520" y="3803904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8C8"/>
                </a:solidFill>
              </a:rPr>
              <a:t>Deploy on EPFIGMS + Shram Suvidha portals for real-user evaluation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479145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276"/>
                </a:solidFill>
              </a:rPr>
              <a:t>ShramikSaathi  ·  DS615  ·  DA-IICT, Gandhinagar  ·  2025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 — Tool Schema &amp; Example Trace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7B8FC8"/>
                </a:solidFill>
              </a:rPr>
              <a:t>Supplementary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</a:rPr>
              <a:t>SearchKB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133856"/>
            <a:ext cx="3840480" cy="1417320"/>
          </a:xfrm>
          <a:prstGeom prst="rect">
            <a:avLst/>
          </a:prstGeom>
          <a:solidFill>
            <a:srgbClr val="1A1F30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3639312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"query": str, "top_k": int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"doc_id": str, "content": str,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"effective_date": str,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"domain": str, "score": float }]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6700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</a:rPr>
              <a:t>ParsePayslip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2962656"/>
            <a:ext cx="3840480" cy="1600200"/>
          </a:xfrm>
          <a:prstGeom prst="rect">
            <a:avLst/>
          </a:prstGeom>
          <a:solidFill>
            <a:srgbClr val="1A1F30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017520"/>
            <a:ext cx="3639312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basic_salary, gross_salary, state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expected_epf:  12% of basic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expected_esi:  0.75% if gross ≤ ₹21k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expected_pt:   state slabs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anomalies:     [...] 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0" y="84124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6B1A"/>
                </a:solidFill>
              </a:rPr>
              <a:t>Example Condition Trace  (PF Full Withdrawal)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0" y="1207008"/>
            <a:ext cx="429768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207008"/>
            <a:ext cx="50292" cy="4572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527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unemployed ≥ 2 months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45389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[EPF ACT S69]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92440" y="1298448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166534">
              <a:alpha val="20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129844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</a:rPr>
              <a:t>RESOLVED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1755648"/>
            <a:ext cx="429768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755648"/>
            <a:ext cx="50292" cy="4572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801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UAN status = active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00253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[EPF ACT S69]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92440" y="1847088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166534">
              <a:alpha val="20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184708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</a:rPr>
              <a:t>RESOLVED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2304288"/>
            <a:ext cx="429768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304288"/>
            <a:ext cx="50292" cy="4572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3500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KYC = complete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55117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[EPF ACT S69]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92440" y="2395728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166534">
              <a:alpha val="20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23957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</a:rPr>
              <a:t>RESOLVED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2852928"/>
            <a:ext cx="429768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2852928"/>
            <a:ext cx="50292" cy="457200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8986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service_years (TDS check)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309981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[CIRC 2024 TDS]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92440" y="2944368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E06B1A">
              <a:alpha val="20000"/>
            </a:srgbClr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294436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6B1A"/>
                </a:solidFill>
              </a:rPr>
              <a:t>WARNING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3429000"/>
            <a:ext cx="429768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3429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</a:rPr>
              <a:t>Decision: ANSWER  ·  CCS = 3 / 4 = 0.75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0" y="385876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Generator receives: slot dict + retrieved passages + condition trace → cited answer confirming eligibility under [EPF ACT S69] + TDS WARNING citing [CIRC 2024 TDS]: if service &lt; 5 yrs and balance &gt; ₹50,000, TDS applies unless Form 15G is submitted.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 — Additional Results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7B8FC8"/>
                </a:solidFill>
              </a:rPr>
              <a:t>Supplementary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731705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DPO β Sweep  (Table 4)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09693"/>
              </p:ext>
            </p:extLst>
          </p:nvPr>
        </p:nvGraphicFramePr>
        <p:xfrm>
          <a:off x="365760" y="1000341"/>
          <a:ext cx="4023360" cy="19202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 β=0.05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 β=0.10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 β=0.20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63440" y="7126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Per-Domain Breakdown  (Table 5)</a:t>
            </a:r>
            <a:endParaRPr lang="en-US" sz="13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60715"/>
              </p:ext>
            </p:extLst>
          </p:nvPr>
        </p:nvGraphicFramePr>
        <p:xfrm>
          <a:off x="4663440" y="975155"/>
          <a:ext cx="4114800" cy="2103120"/>
        </p:xfrm>
        <a:graphic>
          <a:graphicData uri="http://schemas.openxmlformats.org/drawingml/2006/table">
            <a:tbl>
              <a:tblPr/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(DPO)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65760" y="289292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Serving Performance  (Table 8)</a:t>
            </a:r>
            <a:endParaRPr lang="en-US" sz="135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26017"/>
              </p:ext>
            </p:extLst>
          </p:nvPr>
        </p:nvGraphicFramePr>
        <p:xfrm>
          <a:off x="360997" y="3103041"/>
          <a:ext cx="8503921" cy="2103120"/>
        </p:xfrm>
        <a:graphic>
          <a:graphicData uri="http://schemas.openxmlformats.org/drawingml/2006/table">
            <a:tbl>
              <a:tblPr/>
              <a:tblGrid>
                <a:gridCol w="263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0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9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(A100 80GB)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 (RTX 5070 Ti)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+ Slot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4 s  (adapter toggle)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Retrieval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Reasoner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– 40 s  (LLM-based)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 s  (deterministic rules)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– 30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– 20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end-to-end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– 70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– 25 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 — End-to-End Worked Example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7B8FC8"/>
                </a:solidFill>
              </a:rPr>
              <a:t>§3.3 from paper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Query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88136"/>
            <a:ext cx="8412480" cy="42062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88136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3AED"/>
                </a:solidFill>
              </a:rPr>
              <a:t>"I left my job 3 months ago. My UAN is active and KYC is done. I want to withdraw my full PF balance."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8412480" cy="47548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09344"/>
            <a:ext cx="50292" cy="47548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4592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6B1A"/>
                </a:solidFill>
              </a:rPr>
              <a:t>1  Router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164592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= pf  →  load PF slot schema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157984"/>
            <a:ext cx="8412480" cy="47548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57984"/>
            <a:ext cx="50292" cy="47548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9456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6B1A"/>
                </a:solidFill>
              </a:rPr>
              <a:t>2  Slot Extraction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19456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intent: "full_withdrawal",  months_unemployed: 3,  uan_status: "active",  kyc_status: "complete",  service_years: null 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8412480" cy="47548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06624"/>
            <a:ext cx="50292" cy="475488"/>
          </a:xfrm>
          <a:prstGeom prst="rect">
            <a:avLst/>
          </a:prstGeom>
          <a:solidFill>
            <a:srgbClr val="E06B1A"/>
          </a:solidFill>
          <a:ln w="12700">
            <a:solidFill>
              <a:srgbClr val="E06B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4320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6B1A"/>
                </a:solidFill>
              </a:rPr>
              <a:t>3  Sufficiency Gate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274320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 ✓  employment_status ✓  →  SUFFICIENT — proceed to retrieval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255264"/>
            <a:ext cx="8412480" cy="47548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55264"/>
            <a:ext cx="50292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2918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4 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48840" y="329184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SearchKB("full PF withdrawal eligibility", top_k=5)  →  EPF Act S69 + Circular 2024-TDS retrieved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803904"/>
            <a:ext cx="8412480" cy="47548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803904"/>
            <a:ext cx="50292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84048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5  Eligibility Reasoner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48840" y="384048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unemployed ≥ 2 months → RESOLVED  |  UAN active → RESOLVED  |  KYC → RESOLVED  |  service_years → WARNING  |  Decision: ANSWER  (CCS = 0.75)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352544"/>
            <a:ext cx="8412480" cy="47548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352544"/>
            <a:ext cx="50292" cy="47548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38912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</a:rPr>
              <a:t>6  Generator Output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48840" y="438912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Eligible under [EPF ACT S69]. Steps to withdraw listed. TDS WARNING: if service &lt; 5 yrs and balance &gt; ₹50,000 → TDS unless Form 15G submitted [CIRC 2024 TDS].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1866</Words>
  <Application>Microsoft Office PowerPoint</Application>
  <PresentationFormat>On-screen Show (16:9)</PresentationFormat>
  <Paragraphs>356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SRISHTI LAMBA</cp:lastModifiedBy>
  <cp:revision>4</cp:revision>
  <dcterms:created xsi:type="dcterms:W3CDTF">2026-05-09T11:31:08Z</dcterms:created>
  <dcterms:modified xsi:type="dcterms:W3CDTF">2026-05-12T06:36:28Z</dcterms:modified>
</cp:coreProperties>
</file>